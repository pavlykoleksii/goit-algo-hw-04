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C202C-5C2B-9CAA-C3EF-60D0C7D8A64D}" v="24" dt="2026-05-31T10:56:29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ій Павлик" userId="cf1931e5701e838d" providerId="Windows Live" clId="Web-{AC8C202C-5C2B-9CAA-C3EF-60D0C7D8A64D}"/>
    <pc:docChg chg="modSld">
      <pc:chgData name="Олексій Павлик" userId="cf1931e5701e838d" providerId="Windows Live" clId="Web-{AC8C202C-5C2B-9CAA-C3EF-60D0C7D8A64D}" dt="2026-05-31T10:56:29.739" v="23" actId="20577"/>
      <pc:docMkLst>
        <pc:docMk/>
      </pc:docMkLst>
      <pc:sldChg chg="modSp">
        <pc:chgData name="Олексій Павлик" userId="cf1931e5701e838d" providerId="Windows Live" clId="Web-{AC8C202C-5C2B-9CAA-C3EF-60D0C7D8A64D}" dt="2026-05-31T09:31:17.126" v="11" actId="20577"/>
        <pc:sldMkLst>
          <pc:docMk/>
          <pc:sldMk cId="0" sldId="256"/>
        </pc:sldMkLst>
        <pc:spChg chg="mod">
          <ac:chgData name="Олексій Павлик" userId="cf1931e5701e838d" providerId="Windows Live" clId="Web-{AC8C202C-5C2B-9CAA-C3EF-60D0C7D8A64D}" dt="2026-05-31T09:31:17.126" v="1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Олексій Павлик" userId="cf1931e5701e838d" providerId="Windows Live" clId="Web-{AC8C202C-5C2B-9CAA-C3EF-60D0C7D8A64D}" dt="2026-05-31T10:56:29.739" v="23" actId="20577"/>
        <pc:sldMkLst>
          <pc:docMk/>
          <pc:sldMk cId="0" sldId="267"/>
        </pc:sldMkLst>
        <pc:spChg chg="mod">
          <ac:chgData name="Олексій Павлик" userId="cf1931e5701e838d" providerId="Windows Live" clId="Web-{AC8C202C-5C2B-9CAA-C3EF-60D0C7D8A64D}" dt="2026-05-31T10:56:29.739" v="23" actId="20577"/>
          <ac:spMkLst>
            <pc:docMk/>
            <pc:sldMk cId="0" sldId="26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A10BC-9814-4703-AC42-57FA33FFB64A}" type="datetimeFigureOut">
              <a:t>31.05.2026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0311D-F971-4CDF-A06E-4A10ECA83113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840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УПРАВЛІННЯ ІНФОРМАЦІЙНОЇ БЕЗПЕКИ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Операційна стійкість систем штучного інтелекту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кейс управління ризиками та стійкістю ШІ в банку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49808" y="3794760"/>
            <a:ext cx="3840480" cy="0"/>
          </a:xfrm>
          <a:prstGeom prst="line">
            <a:avLst/>
          </a:prstGeom>
          <a:noFill/>
          <a:ln w="25400">
            <a:solidFill>
              <a:srgbClr val="1F6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Біла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книга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ШІ (НБУ) ·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Трек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5 «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Кіберзахист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операційна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стійкість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»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DesignThinking-сесія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офіс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НАБУ · 01.06.2026 · 14:00–18:00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Спікер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Янішевський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Дмитро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ПОЗИЦІОНУВАННЯ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ШІ — нова поверхня вже відомого ризику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будуємо окремий «силос» для ШІ. Він додає нову поверхню до ризиків, якими сектор уже керує: ІКТ-, операційний, третіх сторін, даних. Тому ШІ вбудовано в наявну систему управління ризиками та СУІБ.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196742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Європейська група OTP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Відправна точка — EU AI Act, ISO/IEC 42001:2023 (управління ШІ) та ISO/IEC 27001:2022.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338218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8218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5962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319674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0906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Локалізація під НБУ</a:t>
            </a:r>
            <a:endParaRPr lang="en-US" sz="1500"/>
          </a:p>
        </p:txBody>
      </p:sp>
      <p:sp>
        <p:nvSpPr>
          <p:cNvPr id="17" name="Text 13"/>
          <p:cNvSpPr/>
          <p:nvPr/>
        </p:nvSpPr>
        <p:spPr>
          <a:xfrm>
            <a:off x="4612538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Адаптація до правового поля України та чинних вимог НБУ; СУІБ за ДСТУ ISO/IEC 27001.</a:t>
            </a:r>
            <a:endParaRPr lang="en-US" sz="1150"/>
          </a:p>
        </p:txBody>
      </p:sp>
      <p:sp>
        <p:nvSpPr>
          <p:cNvPr id="18" name="Shape 14"/>
          <p:cNvSpPr/>
          <p:nvPr/>
        </p:nvSpPr>
        <p:spPr>
          <a:xfrm>
            <a:off x="8127797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27797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5541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319674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60485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Вбудовано в управління ризиками</a:t>
            </a:r>
            <a:endParaRPr lang="en-US" sz="1500"/>
          </a:p>
        </p:txBody>
      </p:sp>
      <p:sp>
        <p:nvSpPr>
          <p:cNvPr id="23" name="Text 18"/>
          <p:cNvSpPr/>
          <p:nvPr/>
        </p:nvSpPr>
        <p:spPr>
          <a:xfrm>
            <a:off x="8402117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ШІ-ризик — частина управління ІКТ- та операційними ризиками, а не окремий режим.</a:t>
            </a:r>
            <a:endParaRPr lang="en-US" sz="115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5" name="Text 20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Security- та resilience-by-design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0" cy="3840480"/>
          </a:xfrm>
          <a:prstGeom prst="rect">
            <a:avLst/>
          </a:prstGeom>
          <a:solidFill>
            <a:srgbClr val="10402A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3840480"/>
          </a:xfrm>
          <a:prstGeom prst="rect">
            <a:avLst/>
          </a:prstGeom>
          <a:solidFill>
            <a:srgbClr val="1F6F4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632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Стійкість і безпека закладаються на етапі задуму</a:t>
            </a:r>
            <a:endParaRPr lang="en-US" sz="210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єдиний життєвий цикл ШІ, а не «прикручуються» після впровадження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0" y="1828800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1828800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2" name="Shape 9"/>
          <p:cNvSpPr/>
          <p:nvPr/>
        </p:nvSpPr>
        <p:spPr>
          <a:xfrm>
            <a:off x="5724144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0" y="219090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9088" y="2048256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Security-by-default</a:t>
            </a:r>
            <a:endParaRPr lang="en-US" sz="1450"/>
          </a:p>
        </p:txBody>
      </p:sp>
      <p:sp>
        <p:nvSpPr>
          <p:cNvPr id="15" name="Text 11"/>
          <p:cNvSpPr/>
          <p:nvPr/>
        </p:nvSpPr>
        <p:spPr>
          <a:xfrm>
            <a:off x="5760720" y="2743200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Безпечні налаштування за замовчуванням, у т.ч. для сервісів третіх сторін (Політика ІБ).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5486400" y="3163824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0" y="3163824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8" name="Shape 14"/>
          <p:cNvSpPr/>
          <p:nvPr/>
        </p:nvSpPr>
        <p:spPr>
          <a:xfrm>
            <a:off x="5724144" y="3383280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0" y="3525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83280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життєвий цикл + реєстр</a:t>
            </a:r>
            <a:endParaRPr lang="en-US" sz="1450"/>
          </a:p>
        </p:txBody>
      </p:sp>
      <p:sp>
        <p:nvSpPr>
          <p:cNvPr id="21" name="Text 16"/>
          <p:cNvSpPr/>
          <p:nvPr/>
        </p:nvSpPr>
        <p:spPr>
          <a:xfrm>
            <a:off x="5760720" y="4078224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Жодна система ШІ не зʼявляється поза процесом; усе фіксується в каталозі ШІ.</a:t>
            </a:r>
            <a:endParaRPr lang="en-US" sz="1100"/>
          </a:p>
        </p:txBody>
      </p:sp>
      <p:sp>
        <p:nvSpPr>
          <p:cNvPr id="22" name="Shape 17"/>
          <p:cNvSpPr/>
          <p:nvPr/>
        </p:nvSpPr>
        <p:spPr>
          <a:xfrm>
            <a:off x="5486400" y="4498848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0" y="4498848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4" name="Shape 19"/>
          <p:cNvSpPr/>
          <p:nvPr/>
        </p:nvSpPr>
        <p:spPr>
          <a:xfrm>
            <a:off x="5724144" y="471830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790" y="486095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19088" y="4718304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Пропорційність ризику</a:t>
            </a:r>
            <a:endParaRPr lang="en-US" sz="1450"/>
          </a:p>
        </p:txBody>
      </p:sp>
      <p:sp>
        <p:nvSpPr>
          <p:cNvPr id="27" name="Text 21"/>
          <p:cNvSpPr/>
          <p:nvPr/>
        </p:nvSpPr>
        <p:spPr>
          <a:xfrm>
            <a:off x="5760720" y="5413248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Глибина контролів визначається класом ризику за EU AI Act (risk-based).</a:t>
            </a:r>
            <a:endParaRPr lang="en-US" sz="110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9" name="Text 23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В АРХІТЕКТУРУ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Єдиний життєвий цикл систем ШІ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94360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Планування</a:t>
            </a:r>
            <a:endParaRPr lang="en-US" sz="980"/>
          </a:p>
        </p:txBody>
      </p:sp>
      <p:sp>
        <p:nvSpPr>
          <p:cNvPr id="8" name="Text 6"/>
          <p:cNvSpPr/>
          <p:nvPr/>
        </p:nvSpPr>
        <p:spPr>
          <a:xfrm>
            <a:off x="1821142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1949158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9158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1994878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</a:t>
            </a:r>
            <a:endParaRPr lang="en-US" sz="980"/>
          </a:p>
        </p:txBody>
      </p:sp>
      <p:sp>
        <p:nvSpPr>
          <p:cNvPr id="12" name="Text 10"/>
          <p:cNvSpPr/>
          <p:nvPr/>
        </p:nvSpPr>
        <p:spPr>
          <a:xfrm>
            <a:off x="3221660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349676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9676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3395396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Закупівля / QBR</a:t>
            </a:r>
            <a:endParaRPr lang="en-US" sz="980"/>
          </a:p>
        </p:txBody>
      </p:sp>
      <p:sp>
        <p:nvSpPr>
          <p:cNvPr id="16" name="Text 14"/>
          <p:cNvSpPr/>
          <p:nvPr/>
        </p:nvSpPr>
        <p:spPr>
          <a:xfrm>
            <a:off x="4622178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750194" y="2286000"/>
            <a:ext cx="1290790" cy="1371600"/>
          </a:xfrm>
          <a:prstGeom prst="rect">
            <a:avLst/>
          </a:prstGeom>
          <a:solidFill>
            <a:srgbClr val="1F6F46"/>
          </a:solidFill>
          <a:ln w="12700">
            <a:solidFill>
              <a:srgbClr val="1F6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0194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F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4795914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(SDLC + ШІ)</a:t>
            </a:r>
            <a:endParaRPr lang="en-US" sz="980"/>
          </a:p>
        </p:txBody>
      </p:sp>
      <p:sp>
        <p:nvSpPr>
          <p:cNvPr id="20" name="Text 18"/>
          <p:cNvSpPr/>
          <p:nvPr/>
        </p:nvSpPr>
        <p:spPr>
          <a:xfrm>
            <a:off x="6022696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150712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0712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196432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Верифікація</a:t>
            </a:r>
            <a:endParaRPr lang="en-US" sz="980"/>
          </a:p>
        </p:txBody>
      </p:sp>
      <p:sp>
        <p:nvSpPr>
          <p:cNvPr id="24" name="Text 22"/>
          <p:cNvSpPr/>
          <p:nvPr/>
        </p:nvSpPr>
        <p:spPr>
          <a:xfrm>
            <a:off x="7423214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7551230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1230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7596950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Реліз</a:t>
            </a:r>
            <a:endParaRPr lang="en-US" sz="980"/>
          </a:p>
        </p:txBody>
      </p:sp>
      <p:sp>
        <p:nvSpPr>
          <p:cNvPr id="28" name="Text 26"/>
          <p:cNvSpPr/>
          <p:nvPr/>
        </p:nvSpPr>
        <p:spPr>
          <a:xfrm>
            <a:off x="8823731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951747" y="2286000"/>
            <a:ext cx="1290790" cy="1371600"/>
          </a:xfrm>
          <a:prstGeom prst="rect">
            <a:avLst/>
          </a:prstGeom>
          <a:solidFill>
            <a:srgbClr val="1F6F46"/>
          </a:solidFill>
          <a:ln w="12700">
            <a:solidFill>
              <a:srgbClr val="1F6F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51747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F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8997467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Експлуатація</a:t>
            </a:r>
            <a:endParaRPr lang="en-US" sz="980"/>
          </a:p>
        </p:txBody>
      </p:sp>
      <p:sp>
        <p:nvSpPr>
          <p:cNvPr id="32" name="Text 30"/>
          <p:cNvSpPr/>
          <p:nvPr/>
        </p:nvSpPr>
        <p:spPr>
          <a:xfrm>
            <a:off x="10224249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10352265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52265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700"/>
          </a:p>
        </p:txBody>
      </p:sp>
      <p:sp>
        <p:nvSpPr>
          <p:cNvPr id="35" name="Text 33"/>
          <p:cNvSpPr/>
          <p:nvPr/>
        </p:nvSpPr>
        <p:spPr>
          <a:xfrm>
            <a:off x="10397985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Виведення</a:t>
            </a:r>
            <a:endParaRPr lang="en-US" sz="98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1109441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160520"/>
            <a:ext cx="64008" cy="15544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" y="437997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4522622"/>
            <a:ext cx="263347" cy="263347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481328" y="4379976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ШІ — єдине джерело управління</a:t>
            </a:r>
            <a:endParaRPr lang="en-US" sz="1500"/>
          </a:p>
        </p:txBody>
      </p:sp>
      <p:sp>
        <p:nvSpPr>
          <p:cNvPr id="41" name="Text 38"/>
          <p:cNvSpPr/>
          <p:nvPr/>
        </p:nvSpPr>
        <p:spPr>
          <a:xfrm>
            <a:off x="822960" y="5074920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Реєструє призначення, дані, інтеграції, постачальника, рівень ризику, власника ризику та погоджені контролі. Зміна моделі / даних / постачальника — автоматичний тригер повторної оцінки ризику. На вході: попередня класифікація (чи це ШІ, персональні дані, технологія поза банківським стандартом → GTAB).</a:t>
            </a:r>
            <a:endParaRPr lang="en-US" sz="120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43" name="Text 40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SECURITY-BY-DESIGN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Архітектурні контролі для ШІ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19090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482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Trust-сегментація</a:t>
            </a:r>
            <a:endParaRPr lang="en-US" sz="155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Ізоляція ШІ-навантажень; перевірка кожного доступу; принцип мінімальних привілеїв.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6324448" y="18288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4448" y="18288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6562192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8" y="219090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57136" y="20482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egress + DLP</a:t>
            </a:r>
            <a:endParaRPr lang="en-US" sz="1550"/>
          </a:p>
        </p:txBody>
      </p:sp>
      <p:sp>
        <p:nvSpPr>
          <p:cNvPr id="16" name="Text 12"/>
          <p:cNvSpPr/>
          <p:nvPr/>
        </p:nvSpPr>
        <p:spPr>
          <a:xfrm>
            <a:off x="6598768" y="27432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Журнальований вихідний трафік до зовнішніх ШІ-сервісів із перевіркою правилами запобігання витоку.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8862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" y="41056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24830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81328" y="41056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вводу/виводу</a:t>
            </a:r>
            <a:endParaRPr lang="en-US" sz="1550"/>
          </a:p>
        </p:txBody>
      </p:sp>
      <p:sp>
        <p:nvSpPr>
          <p:cNvPr id="22" name="Text 17"/>
          <p:cNvSpPr/>
          <p:nvPr/>
        </p:nvSpPr>
        <p:spPr>
          <a:xfrm>
            <a:off x="822960" y="48006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prompt-injection; контроль і санітизація відповідей моделі.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6324448" y="38862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24448" y="38862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5" name="Shape 20"/>
          <p:cNvSpPr/>
          <p:nvPr/>
        </p:nvSpPr>
        <p:spPr>
          <a:xfrm>
            <a:off x="6562192" y="41056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838" y="4248302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57136" y="41056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Заборона передачі чутливих даних</a:t>
            </a:r>
            <a:endParaRPr lang="en-US" sz="1550"/>
          </a:p>
        </p:txBody>
      </p:sp>
      <p:sp>
        <p:nvSpPr>
          <p:cNvPr id="28" name="Text 22"/>
          <p:cNvSpPr/>
          <p:nvPr/>
        </p:nvSpPr>
        <p:spPr>
          <a:xfrm>
            <a:off x="6598768" y="48006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Банківська таємниця, ПДн, ключі, токени та код не йдуть у неавторизовані зовнішні ШІ.</a:t>
            </a:r>
            <a:endParaRPr lang="en-US" sz="120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0" name="Text 24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 ВІД ПОСТАЧАЛЬНИКІВ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Концентраційний ризик — головний виклик стійкості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0" cy="379476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3794760"/>
          </a:xfrm>
          <a:prstGeom prst="rect">
            <a:avLst/>
          </a:prstGeom>
          <a:solidFill>
            <a:srgbClr val="C8821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Кілька провайдерів GPAI та хмар стають спільною критичною залежністю одразу для багатьох банків</a:t>
            </a:r>
            <a:endParaRPr lang="en-US" sz="1700"/>
          </a:p>
        </p:txBody>
      </p:sp>
      <p:sp>
        <p:nvSpPr>
          <p:cNvPr id="10" name="Text 7"/>
          <p:cNvSpPr/>
          <p:nvPr/>
        </p:nvSpPr>
        <p:spPr>
          <a:xfrm>
            <a:off x="868680" y="4937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спільні «єдині точки відмови» сектору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5029200" y="1874520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874520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5266944" y="209397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590" y="223662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61888" y="2093976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Попередня оцінка третьої сторони</a:t>
            </a:r>
            <a:endParaRPr lang="en-US" sz="1450"/>
          </a:p>
        </p:txBody>
      </p:sp>
      <p:sp>
        <p:nvSpPr>
          <p:cNvPr id="16" name="Text 12"/>
          <p:cNvSpPr/>
          <p:nvPr/>
        </p:nvSpPr>
        <p:spPr>
          <a:xfrm>
            <a:off x="5303520" y="2788920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впровадження — оцінка ризику постачальника та всього сервісного ланцюга (QBR).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5029200" y="3209544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0" y="3209544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5266944" y="3429000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590" y="357164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61888" y="3429000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ланцюга субпідрядників</a:t>
            </a:r>
            <a:endParaRPr lang="en-US" sz="1450"/>
          </a:p>
        </p:txBody>
      </p:sp>
      <p:sp>
        <p:nvSpPr>
          <p:cNvPr id="22" name="Text 17"/>
          <p:cNvSpPr/>
          <p:nvPr/>
        </p:nvSpPr>
        <p:spPr>
          <a:xfrm>
            <a:off x="5303520" y="4123944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Договірна прозорість, завчасне повідомлення про зміни, право припинити договір.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5029200" y="4544568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0" y="4544568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5" name="Shape 20"/>
          <p:cNvSpPr/>
          <p:nvPr/>
        </p:nvSpPr>
        <p:spPr>
          <a:xfrm>
            <a:off x="5266944" y="476402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0" y="4906670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61888" y="4764024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Критичні / важливі функції (DORA)</a:t>
            </a:r>
            <a:endParaRPr lang="en-US" sz="1450"/>
          </a:p>
        </p:txBody>
      </p:sp>
      <p:sp>
        <p:nvSpPr>
          <p:cNvPr id="28" name="Text 22"/>
          <p:cNvSpPr/>
          <p:nvPr/>
        </p:nvSpPr>
        <p:spPr>
          <a:xfrm>
            <a:off x="5303520" y="5458968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Посилені вимоги, право контролю наглядового органу; для GPAI — декларація відповідності.</a:t>
            </a:r>
            <a:endParaRPr lang="en-US" sz="110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0" name="Text 24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РЕАГУВАННЯ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Інцидент ШІ — спільна відповідальність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55666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+ провайдер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Спільний і скоординований процес; негайне сповіщення про інцидент на боці провайдера, що нас зачіпає.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338218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55666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Розширене поняття інциденту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4612538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лише атаки, а й провалені тести (DRP та безпекові) на боці провайдера — це сигнал майбутньої загрози.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8127797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55666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ШІ-специфічні індикатори</a:t>
            </a:r>
            <a:endParaRPr lang="en-US" sz="1500"/>
          </a:p>
        </p:txBody>
      </p:sp>
      <p:sp>
        <p:nvSpPr>
          <p:cNvPr id="22" name="Text 17"/>
          <p:cNvSpPr/>
          <p:nvPr/>
        </p:nvSpPr>
        <p:spPr>
          <a:xfrm>
            <a:off x="8402117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Деградація якості, дрейф, отруєння даних, змагальні атаки, витік моделі — власні засоби виявлення.</a:t>
            </a:r>
            <a:endParaRPr lang="en-US" sz="120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4" name="Text 19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БЕЗПЕРЕРВНІСТЬ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BCP / DRP для ШІ: вихід обовʼязковий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ШІ без стратегії виходу не погоджується. ШІ підпорядковується тій самій дисципліні безперервності, що й критичні банківські системи.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28254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968142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28254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виведення (exit)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Покрокова дорожня карта, ролі сторін, тестові сценарії, критерії приймання.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6324448" y="2606040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4448" y="2606040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4" name="Shape 11"/>
          <p:cNvSpPr/>
          <p:nvPr/>
        </p:nvSpPr>
        <p:spPr>
          <a:xfrm>
            <a:off x="6562192" y="28254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8" y="296814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57136" y="28254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playbook</a:t>
            </a:r>
            <a:endParaRPr lang="en-US" sz="1500"/>
          </a:p>
        </p:txBody>
      </p:sp>
      <p:sp>
        <p:nvSpPr>
          <p:cNvPr id="17" name="Text 13"/>
          <p:cNvSpPr/>
          <p:nvPr/>
        </p:nvSpPr>
        <p:spPr>
          <a:xfrm>
            <a:off x="6598768" y="3520440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Сценарій найгіршого випадку відпрацьований заздалегідь, а не в момент збою.</a:t>
            </a:r>
            <a:endParaRPr lang="en-US" sz="1150"/>
          </a:p>
        </p:txBody>
      </p:sp>
      <p:sp>
        <p:nvSpPr>
          <p:cNvPr id="18" name="Shape 14"/>
          <p:cNvSpPr/>
          <p:nvPr/>
        </p:nvSpPr>
        <p:spPr>
          <a:xfrm>
            <a:off x="548640" y="4361688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361688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0" name="Shape 16"/>
          <p:cNvSpPr/>
          <p:nvPr/>
        </p:nvSpPr>
        <p:spPr>
          <a:xfrm>
            <a:off x="786384" y="458114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723790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4581144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Втрата підтримки вендора</a:t>
            </a:r>
            <a:endParaRPr lang="en-US" sz="1500"/>
          </a:p>
        </p:txBody>
      </p:sp>
      <p:sp>
        <p:nvSpPr>
          <p:cNvPr id="23" name="Text 18"/>
          <p:cNvSpPr/>
          <p:nvPr/>
        </p:nvSpPr>
        <p:spPr>
          <a:xfrm>
            <a:off x="822960" y="5276088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сценарій — особливо для моделей, що потребують перенавчання.</a:t>
            </a:r>
            <a:endParaRPr lang="en-US" sz="1150"/>
          </a:p>
        </p:txBody>
      </p:sp>
      <p:sp>
        <p:nvSpPr>
          <p:cNvPr id="24" name="Shape 19"/>
          <p:cNvSpPr/>
          <p:nvPr/>
        </p:nvSpPr>
        <p:spPr>
          <a:xfrm>
            <a:off x="6324448" y="4361688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24448" y="4361688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6" name="Shape 21"/>
          <p:cNvSpPr/>
          <p:nvPr/>
        </p:nvSpPr>
        <p:spPr>
          <a:xfrm>
            <a:off x="6562192" y="458114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838" y="4723790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57136" y="4581144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Технічна надмірність</a:t>
            </a:r>
            <a:endParaRPr lang="en-US" sz="1500"/>
          </a:p>
        </p:txBody>
      </p:sp>
      <p:sp>
        <p:nvSpPr>
          <p:cNvPr id="29" name="Text 23"/>
          <p:cNvSpPr/>
          <p:nvPr/>
        </p:nvSpPr>
        <p:spPr>
          <a:xfrm>
            <a:off x="6598768" y="5276088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і можливість відновити дані / перевести сервіс або в локальну експлуатацію.</a:t>
            </a:r>
            <a:endParaRPr lang="en-US" sz="115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1" name="Text 25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СТІЙКОСТІ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Трирівнева програма + red-teaming GenAI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" cy="2286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0025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14518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Передрелізне тестування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Безпекове тестування до експлуатації з документованими звітами; точність, стабільність, кіберстійкість; критерії приймання.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338218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1783080"/>
            <a:ext cx="64008" cy="2286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0025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14518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Післявпроваджувальний моніторинг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4612538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продуктивності, концептуального дрейфу й деградації моделі; управління feedback loops; пороги й метрики.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8127797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1783080"/>
            <a:ext cx="64008" cy="2286000"/>
          </a:xfrm>
          <a:prstGeom prst="rect">
            <a:avLst/>
          </a:prstGeom>
          <a:solidFill>
            <a:srgbClr val="C8821A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002536"/>
            <a:ext cx="548640" cy="548640"/>
          </a:xfrm>
          <a:prstGeom prst="ellipse">
            <a:avLst/>
          </a:prstGeom>
          <a:solidFill>
            <a:srgbClr val="FFF1D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14518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Red-teaming / adversarial</a:t>
            </a:r>
            <a:endParaRPr lang="en-US" sz="1400"/>
          </a:p>
        </p:txBody>
      </p:sp>
      <p:sp>
        <p:nvSpPr>
          <p:cNvPr id="22" name="Text 17"/>
          <p:cNvSpPr/>
          <p:nvPr/>
        </p:nvSpPr>
        <p:spPr>
          <a:xfrm>
            <a:off x="8402117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Контрольований злам у безпечному середовищі; для зовнішніх моделей — чорноскринькове + докази тестування від провайдера.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5486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 атак, що тестуємо:</a:t>
            </a:r>
            <a:endParaRPr lang="en-US" sz="1200"/>
          </a:p>
        </p:txBody>
      </p:sp>
      <p:sp>
        <p:nvSpPr>
          <p:cNvPr id="24" name="Shape 19"/>
          <p:cNvSpPr/>
          <p:nvPr/>
        </p:nvSpPr>
        <p:spPr>
          <a:xfrm>
            <a:off x="548640" y="4681728"/>
            <a:ext cx="2326234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681728"/>
            <a:ext cx="2326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jailbreak</a:t>
            </a:r>
            <a:endParaRPr lang="en-US" sz="1050"/>
          </a:p>
        </p:txBody>
      </p:sp>
      <p:sp>
        <p:nvSpPr>
          <p:cNvPr id="26" name="Shape 21"/>
          <p:cNvSpPr/>
          <p:nvPr/>
        </p:nvSpPr>
        <p:spPr>
          <a:xfrm>
            <a:off x="3039466" y="4681728"/>
            <a:ext cx="1870862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39466" y="4681728"/>
            <a:ext cx="18708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 poisoning</a:t>
            </a:r>
            <a:endParaRPr lang="en-US" sz="1050"/>
          </a:p>
        </p:txBody>
      </p:sp>
      <p:sp>
        <p:nvSpPr>
          <p:cNvPr id="28" name="Shape 23"/>
          <p:cNvSpPr/>
          <p:nvPr/>
        </p:nvSpPr>
        <p:spPr>
          <a:xfrm>
            <a:off x="5074920" y="4681728"/>
            <a:ext cx="1794967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74920" y="4681728"/>
            <a:ext cx="17949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/ evasion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7034479" y="4681728"/>
            <a:ext cx="1415491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34479" y="4681728"/>
            <a:ext cx="1415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</a:t>
            </a:r>
            <a:endParaRPr lang="en-US" sz="1050"/>
          </a:p>
        </p:txBody>
      </p:sp>
      <p:sp>
        <p:nvSpPr>
          <p:cNvPr id="32" name="Shape 27"/>
          <p:cNvSpPr/>
          <p:nvPr/>
        </p:nvSpPr>
        <p:spPr>
          <a:xfrm>
            <a:off x="8614562" y="4681728"/>
            <a:ext cx="1111910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614562" y="4681728"/>
            <a:ext cx="1111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050"/>
          </a:p>
        </p:txBody>
      </p:sp>
      <p:sp>
        <p:nvSpPr>
          <p:cNvPr id="34" name="Shape 29"/>
          <p:cNvSpPr/>
          <p:nvPr/>
        </p:nvSpPr>
        <p:spPr>
          <a:xfrm>
            <a:off x="9891065" y="4681728"/>
            <a:ext cx="1187806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891065" y="4681728"/>
            <a:ext cx="11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050"/>
          </a:p>
        </p:txBody>
      </p:sp>
      <p:sp>
        <p:nvSpPr>
          <p:cNvPr id="36" name="Text 31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Рамки: OWASP Top 10 for LLM · MITRE ATLAS · NIST AI RMF · ISO/IEC 42001 — тестування незалежне, повторюване, ескалюється в AI Risk WG.</a:t>
            </a:r>
            <a:endParaRPr lang="en-US" sz="110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8" name="Text 33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ВІДПОВІДНІСТЬ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DORA як референсна рамка — без перебільшень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10134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частина європейської групи ми орієнтуємось на DORA при формуванні вимог до ШІ. Вимоги НБУ виконуємо як обовʼязкові. Частина вимог перебуває в імплементації — це нормальний процес для всього сектору.</a:t>
            </a:r>
            <a:endParaRPr lang="en-US" sz="145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6324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32826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342534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2826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 третіх сторін (ІКТ)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822960" y="397764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й контроль постачальників та ланцюга.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6324448" y="306324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4448" y="306324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6" name="Shape 12"/>
          <p:cNvSpPr/>
          <p:nvPr/>
        </p:nvSpPr>
        <p:spPr>
          <a:xfrm>
            <a:off x="6562192" y="32826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342534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57136" y="32826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Критичні / важливі функції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6598768" y="397764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Посилені вимоги до сервісів, що їх підтримують.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452628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" y="47457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" y="488838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74573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стійкості</a:t>
            </a:r>
            <a:endParaRPr lang="en-US" sz="1400"/>
          </a:p>
        </p:txBody>
      </p:sp>
      <p:sp>
        <p:nvSpPr>
          <p:cNvPr id="25" name="Text 19"/>
          <p:cNvSpPr/>
          <p:nvPr/>
        </p:nvSpPr>
        <p:spPr>
          <a:xfrm>
            <a:off x="822960" y="544068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операційна стійкість як регулярна практика.</a:t>
            </a:r>
            <a:endParaRPr lang="en-US" sz="1100"/>
          </a:p>
        </p:txBody>
      </p:sp>
      <p:sp>
        <p:nvSpPr>
          <p:cNvPr id="26" name="Shape 20"/>
          <p:cNvSpPr/>
          <p:nvPr/>
        </p:nvSpPr>
        <p:spPr>
          <a:xfrm>
            <a:off x="6324448" y="452628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24448" y="452628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8" name="Shape 22"/>
          <p:cNvSpPr/>
          <p:nvPr/>
        </p:nvSpPr>
        <p:spPr>
          <a:xfrm>
            <a:off x="6562192" y="47457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838" y="4888382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7136" y="474573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Звітування про інциденти</a:t>
            </a:r>
            <a:endParaRPr lang="en-US" sz="1400"/>
          </a:p>
        </p:txBody>
      </p:sp>
      <p:sp>
        <p:nvSpPr>
          <p:cNvPr id="31" name="Text 24"/>
          <p:cNvSpPr/>
          <p:nvPr/>
        </p:nvSpPr>
        <p:spPr>
          <a:xfrm>
            <a:off x="6598768" y="544068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Узгоджені процеси сповіщення та ескалації.</a:t>
            </a:r>
            <a:endParaRPr lang="en-US" sz="1100"/>
          </a:p>
        </p:txBody>
      </p:sp>
      <p:sp>
        <p:nvSpPr>
          <p:cNvPr id="32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3" name="Text 26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 ОТП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пропонуємо сектору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55666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критичних ШІ-залежностей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Спільно визначити «єдині точки відмови» сектору (GPAI, хмари, інференс) і метрику концентраційного ризику.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338218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55666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договірний стандарт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4612538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Прозорість ланцюга, право аудиту, сповіщення про інциденти, умови виходу, критичні функції DORA.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8127797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55666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Спільна таксономія інцидентів ШІ</a:t>
            </a:r>
            <a:endParaRPr lang="en-US" sz="1500"/>
          </a:p>
        </p:txBody>
      </p:sp>
      <p:sp>
        <p:nvSpPr>
          <p:cNvPr id="22" name="Text 17"/>
          <p:cNvSpPr/>
          <p:nvPr/>
        </p:nvSpPr>
        <p:spPr>
          <a:xfrm>
            <a:off x="8402117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мова подій для обміну сигналами між банками й регулятором.</a:t>
            </a:r>
            <a:endParaRPr lang="en-US" sz="120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4" name="Text 19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Операційна стійкість ШІ — це дисципліна, а не набір інструментів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D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життєвий цикл · обовʼязкова класифікація ризику · контроль постачальників · exit-стратегія · безперервне тестування стійкості — вбудовані в управління ІКТ-ризиками.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49808" y="4754880"/>
            <a:ext cx="3840480" cy="0"/>
          </a:xfrm>
          <a:prstGeom prst="line">
            <a:avLst/>
          </a:prstGeom>
          <a:noFill/>
          <a:ln w="25400">
            <a:solidFill>
              <a:srgbClr val="1F6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Дякую. Готові долучитися до спільної роботи сектору.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[CISO — </a:t>
            </a:r>
            <a:r>
              <a:rPr lang="en-US" sz="1200" dirty="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Янішевський</a:t>
            </a:r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dirty="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Дмитро</a:t>
            </a:r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] · АТ «ОТП БАНК»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Широкий екран</PresentationFormat>
  <Slides>12</Slides>
  <Notes>12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3" baseType="lpstr"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Операційна стійкість ШІ — практичний кейс</dc:title>
  <dc:subject>PptxGenJS Presentation</dc:subject>
  <dc:creator>OTP Bank Ukraine — Information Security</dc:creator>
  <cp:revision>4</cp:revision>
  <dcterms:created xsi:type="dcterms:W3CDTF">2026-05-29T11:37:55Z</dcterms:created>
  <dcterms:modified xsi:type="dcterms:W3CDTF">2026-05-31T10:56:35Z</dcterms:modified>
</cp:coreProperties>
</file>