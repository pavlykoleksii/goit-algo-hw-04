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8C202C-5C2B-9CAA-C3EF-60D0C7D8A64D}" v="24" dt="2026-05-31T10:56:29.7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A10BC-9814-4703-AC42-57FA33FFB64A}" type="datetimeFigureOut">
              <a:t>31.05.2026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0311D-F971-4CDF-A06E-4A10ECA83113}" type="slidenum"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28408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4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B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 «ОТП БАНК»  ·  УПРАВЛІННЯ ІНФОРМАЦІЙНОЇ БЕЗПЕКИ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Операційна стійкість систем штучного інтелекту</a:t>
            </a:r>
            <a:endParaRPr lang="en-US" sz="400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DD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Практичний кейс управління ризиками та стійкістю ШІ в банку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749808" y="3794760"/>
            <a:ext cx="3840480" cy="0"/>
          </a:xfrm>
          <a:prstGeom prst="line">
            <a:avLst/>
          </a:prstGeom>
          <a:noFill/>
          <a:ln w="25400">
            <a:solidFill>
              <a:srgbClr val="1F6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023360"/>
            <a:ext cx="1060704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Біла </a:t>
            </a:r>
            <a:r>
              <a:rPr lang="en-US" sz="135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книга</a:t>
            </a: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ШІ (НБУ) · </a:t>
            </a:r>
            <a:r>
              <a:rPr lang="en-US" sz="135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Трек</a:t>
            </a: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5 «</a:t>
            </a:r>
            <a:r>
              <a:rPr lang="en-US" sz="135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Кіберзахист</a:t>
            </a: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та</a:t>
            </a: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операційна</a:t>
            </a: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стійкість</a:t>
            </a: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»</a:t>
            </a:r>
            <a:endParaRPr lang="en-US" sz="135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50" err="1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DesignThinking-сесія</a:t>
            </a:r>
            <a:r>
              <a:rPr lang="en-US" sz="1350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 · </a:t>
            </a:r>
            <a:r>
              <a:rPr lang="en-US" sz="1350" err="1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офіс</a:t>
            </a:r>
            <a:r>
              <a:rPr lang="en-US" sz="1350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 НАБУ · 01.06.2026 · 14:00–18:00</a:t>
            </a:r>
            <a:endParaRPr lang="en-US" sz="1350">
              <a:latin typeface="Calibri"/>
              <a:ea typeface="Calibri"/>
              <a:cs typeface="Calibri"/>
            </a:endParaRPr>
          </a:p>
          <a:p>
            <a:pPr>
              <a:lnSpc>
                <a:spcPct val="130000"/>
              </a:lnSpc>
            </a:pPr>
            <a:r>
              <a:rPr lang="en-US" sz="1350" err="1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Спікер</a:t>
            </a:r>
            <a:r>
              <a:rPr lang="en-US" sz="1350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350" err="1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Янішевський</a:t>
            </a:r>
            <a:r>
              <a:rPr lang="en-US" sz="1350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Дмитро</a:t>
            </a:r>
            <a:r>
              <a:rPr lang="en-US" sz="1350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ПОЗИЦІОНУВАННЯ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ШІ — нова поверхня вже відомого ризику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 не будуємо окремий «силос» для ШІ. Він додає нову поверхню до ризиків, якими сектор уже керує: ІКТ-, операційний, третіх сторін, даних. Тому ШІ вбудовано в наявну систему управління ризиками та СУІБ.</a:t>
            </a:r>
            <a:endParaRPr lang="en-US" sz="145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51525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834640"/>
            <a:ext cx="64008" cy="246888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305409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3196742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81328" y="305409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Європейська група OTP</a:t>
            </a:r>
            <a:endParaRPr lang="en-US" sz="1500"/>
          </a:p>
        </p:txBody>
      </p:sp>
      <p:sp>
        <p:nvSpPr>
          <p:cNvPr id="11" name="Text 8"/>
          <p:cNvSpPr/>
          <p:nvPr/>
        </p:nvSpPr>
        <p:spPr>
          <a:xfrm>
            <a:off x="822960" y="3749040"/>
            <a:ext cx="296661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Відправна точка — EU AI Act, ISO/IEC 42001:2023 (управління ШІ) та ISO/IEC 27001:2022.</a:t>
            </a:r>
            <a:endParaRPr lang="en-US" sz="1150"/>
          </a:p>
        </p:txBody>
      </p:sp>
      <p:sp>
        <p:nvSpPr>
          <p:cNvPr id="12" name="Shape 9"/>
          <p:cNvSpPr/>
          <p:nvPr/>
        </p:nvSpPr>
        <p:spPr>
          <a:xfrm>
            <a:off x="4338218" y="2834640"/>
            <a:ext cx="351525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38218" y="2834640"/>
            <a:ext cx="64008" cy="246888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5962" y="305409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609" y="3196742"/>
            <a:ext cx="263347" cy="26334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70906" y="305409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Локалізація під НБУ</a:t>
            </a:r>
            <a:endParaRPr lang="en-US" sz="1500"/>
          </a:p>
        </p:txBody>
      </p:sp>
      <p:sp>
        <p:nvSpPr>
          <p:cNvPr id="17" name="Text 13"/>
          <p:cNvSpPr/>
          <p:nvPr/>
        </p:nvSpPr>
        <p:spPr>
          <a:xfrm>
            <a:off x="4612538" y="3749040"/>
            <a:ext cx="296661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Адаптація до правового поля України та чинних вимог НБУ; СУІБ за ДСТУ ISO/IEC 27001.</a:t>
            </a:r>
            <a:endParaRPr lang="en-US" sz="1150"/>
          </a:p>
        </p:txBody>
      </p:sp>
      <p:sp>
        <p:nvSpPr>
          <p:cNvPr id="18" name="Shape 14"/>
          <p:cNvSpPr/>
          <p:nvPr/>
        </p:nvSpPr>
        <p:spPr>
          <a:xfrm>
            <a:off x="8127797" y="2834640"/>
            <a:ext cx="351525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27797" y="2834640"/>
            <a:ext cx="64008" cy="246888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20" name="Shape 16"/>
          <p:cNvSpPr/>
          <p:nvPr/>
        </p:nvSpPr>
        <p:spPr>
          <a:xfrm>
            <a:off x="8365541" y="305409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8187" y="3196742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60485" y="305409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Вбудовано в управління ризиками</a:t>
            </a:r>
            <a:endParaRPr lang="en-US" sz="1500"/>
          </a:p>
        </p:txBody>
      </p:sp>
      <p:sp>
        <p:nvSpPr>
          <p:cNvPr id="23" name="Text 18"/>
          <p:cNvSpPr/>
          <p:nvPr/>
        </p:nvSpPr>
        <p:spPr>
          <a:xfrm>
            <a:off x="8402117" y="3749040"/>
            <a:ext cx="296661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ШІ-ризик — частина управління ІКТ- та операційними ризиками, а не окремий режим.</a:t>
            </a:r>
            <a:endParaRPr lang="en-US" sz="1150"/>
          </a:p>
        </p:txBody>
      </p:sp>
      <p:sp>
        <p:nvSpPr>
          <p:cNvPr id="24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 «ОТП БАНК»  ·  Конфіденційно — деталі узагальнено для публічного виступу</a:t>
            </a:r>
            <a:endParaRPr lang="en-US" sz="850"/>
          </a:p>
        </p:txBody>
      </p:sp>
      <p:sp>
        <p:nvSpPr>
          <p:cNvPr id="25" name="Text 20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Security- та resilience-by-design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572000" cy="3840480"/>
          </a:xfrm>
          <a:prstGeom prst="rect">
            <a:avLst/>
          </a:prstGeom>
          <a:solidFill>
            <a:srgbClr val="10402A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82296" cy="3840480"/>
          </a:xfrm>
          <a:prstGeom prst="rect">
            <a:avLst/>
          </a:prstGeom>
          <a:solidFill>
            <a:srgbClr val="1F6F4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240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0632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Стійкість і безпека закладаються на етапі задуму</a:t>
            </a:r>
            <a:endParaRPr lang="en-US" sz="2100"/>
          </a:p>
        </p:txBody>
      </p:sp>
      <p:sp>
        <p:nvSpPr>
          <p:cNvPr id="9" name="Text 6"/>
          <p:cNvSpPr/>
          <p:nvPr/>
        </p:nvSpPr>
        <p:spPr>
          <a:xfrm>
            <a:off x="960120" y="42976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єдиний життєвий цикл ШІ, а не «прикручуються» після впровадження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5486400" y="1828800"/>
            <a:ext cx="615665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0" y="1828800"/>
            <a:ext cx="64008" cy="1170432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2" name="Shape 9"/>
          <p:cNvSpPr/>
          <p:nvPr/>
        </p:nvSpPr>
        <p:spPr>
          <a:xfrm>
            <a:off x="5724144" y="204825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790" y="2190902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19088" y="2048256"/>
            <a:ext cx="49862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Security-by-default</a:t>
            </a:r>
            <a:endParaRPr lang="en-US" sz="1450"/>
          </a:p>
        </p:txBody>
      </p:sp>
      <p:sp>
        <p:nvSpPr>
          <p:cNvPr id="15" name="Text 11"/>
          <p:cNvSpPr/>
          <p:nvPr/>
        </p:nvSpPr>
        <p:spPr>
          <a:xfrm>
            <a:off x="5760720" y="2743200"/>
            <a:ext cx="560801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Безпечні налаштування за замовчуванням, у т.ч. для сервісів третіх сторін (Політика ІБ).</a:t>
            </a:r>
            <a:endParaRPr lang="en-US" sz="1100"/>
          </a:p>
        </p:txBody>
      </p:sp>
      <p:sp>
        <p:nvSpPr>
          <p:cNvPr id="16" name="Shape 12"/>
          <p:cNvSpPr/>
          <p:nvPr/>
        </p:nvSpPr>
        <p:spPr>
          <a:xfrm>
            <a:off x="5486400" y="3163824"/>
            <a:ext cx="615665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0" y="3163824"/>
            <a:ext cx="64008" cy="1170432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8" name="Shape 14"/>
          <p:cNvSpPr/>
          <p:nvPr/>
        </p:nvSpPr>
        <p:spPr>
          <a:xfrm>
            <a:off x="5724144" y="3383280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6790" y="3525926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19088" y="3383280"/>
            <a:ext cx="49862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Єдиний життєвий цикл + реєстр</a:t>
            </a:r>
            <a:endParaRPr lang="en-US" sz="1450"/>
          </a:p>
        </p:txBody>
      </p:sp>
      <p:sp>
        <p:nvSpPr>
          <p:cNvPr id="21" name="Text 16"/>
          <p:cNvSpPr/>
          <p:nvPr/>
        </p:nvSpPr>
        <p:spPr>
          <a:xfrm>
            <a:off x="5760720" y="4078224"/>
            <a:ext cx="560801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Жодна система ШІ не зʼявляється поза процесом; усе фіксується в каталозі ШІ.</a:t>
            </a:r>
            <a:endParaRPr lang="en-US" sz="1100"/>
          </a:p>
        </p:txBody>
      </p:sp>
      <p:sp>
        <p:nvSpPr>
          <p:cNvPr id="22" name="Shape 17"/>
          <p:cNvSpPr/>
          <p:nvPr/>
        </p:nvSpPr>
        <p:spPr>
          <a:xfrm>
            <a:off x="5486400" y="4498848"/>
            <a:ext cx="615665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86400" y="4498848"/>
            <a:ext cx="64008" cy="1170432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24" name="Shape 19"/>
          <p:cNvSpPr/>
          <p:nvPr/>
        </p:nvSpPr>
        <p:spPr>
          <a:xfrm>
            <a:off x="5724144" y="4718304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6790" y="4860950"/>
            <a:ext cx="263347" cy="26334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419088" y="4718304"/>
            <a:ext cx="49862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Пропорційність ризику</a:t>
            </a:r>
            <a:endParaRPr lang="en-US" sz="1450"/>
          </a:p>
        </p:txBody>
      </p:sp>
      <p:sp>
        <p:nvSpPr>
          <p:cNvPr id="27" name="Text 21"/>
          <p:cNvSpPr/>
          <p:nvPr/>
        </p:nvSpPr>
        <p:spPr>
          <a:xfrm>
            <a:off x="5760720" y="5413248"/>
            <a:ext cx="560801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Глибина контролів визначається класом ризику за EU AI Act (risk-based).</a:t>
            </a:r>
            <a:endParaRPr lang="en-US" sz="1100"/>
          </a:p>
        </p:txBody>
      </p:sp>
      <p:sp>
        <p:nvSpPr>
          <p:cNvPr id="28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 «ОТП БАНК»  ·  Конфіденційно — деталі узагальнено для публічного виступу</a:t>
            </a:r>
            <a:endParaRPr lang="en-US" sz="850"/>
          </a:p>
        </p:txBody>
      </p:sp>
      <p:sp>
        <p:nvSpPr>
          <p:cNvPr id="29" name="Text 23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ІНТЕГРАЦІЯ В АРХІТЕКТУРУ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Єдиний життєвий цикл систем ШІ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290790" cy="1371600"/>
          </a:xfrm>
          <a:prstGeom prst="rect">
            <a:avLst/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14016"/>
            <a:ext cx="12907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F6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594360" y="2798064"/>
            <a:ext cx="11993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Планування</a:t>
            </a:r>
            <a:endParaRPr lang="en-US" sz="980"/>
          </a:p>
        </p:txBody>
      </p:sp>
      <p:sp>
        <p:nvSpPr>
          <p:cNvPr id="8" name="Text 6"/>
          <p:cNvSpPr/>
          <p:nvPr/>
        </p:nvSpPr>
        <p:spPr>
          <a:xfrm>
            <a:off x="1821142" y="265176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5A6B62"/>
                </a:solidFill>
              </a:rPr>
              <a:t>›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1949158" y="2286000"/>
            <a:ext cx="1290790" cy="1371600"/>
          </a:xfrm>
          <a:prstGeom prst="rect">
            <a:avLst/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49158" y="2414016"/>
            <a:ext cx="12907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F6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/>
          </a:p>
        </p:txBody>
      </p:sp>
      <p:sp>
        <p:nvSpPr>
          <p:cNvPr id="11" name="Text 9"/>
          <p:cNvSpPr/>
          <p:nvPr/>
        </p:nvSpPr>
        <p:spPr>
          <a:xfrm>
            <a:off x="1994878" y="2798064"/>
            <a:ext cx="11993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Підготовка</a:t>
            </a:r>
            <a:endParaRPr lang="en-US" sz="980"/>
          </a:p>
        </p:txBody>
      </p:sp>
      <p:sp>
        <p:nvSpPr>
          <p:cNvPr id="12" name="Text 10"/>
          <p:cNvSpPr/>
          <p:nvPr/>
        </p:nvSpPr>
        <p:spPr>
          <a:xfrm>
            <a:off x="3221660" y="265176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5A6B62"/>
                </a:solidFill>
              </a:rPr>
              <a:t>›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3349676" y="2286000"/>
            <a:ext cx="1290790" cy="1371600"/>
          </a:xfrm>
          <a:prstGeom prst="rect">
            <a:avLst/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9676" y="2414016"/>
            <a:ext cx="12907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F6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3395396" y="2798064"/>
            <a:ext cx="11993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Закупівля / QBR</a:t>
            </a:r>
            <a:endParaRPr lang="en-US" sz="980"/>
          </a:p>
        </p:txBody>
      </p:sp>
      <p:sp>
        <p:nvSpPr>
          <p:cNvPr id="16" name="Text 14"/>
          <p:cNvSpPr/>
          <p:nvPr/>
        </p:nvSpPr>
        <p:spPr>
          <a:xfrm>
            <a:off x="4622178" y="265176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5A6B62"/>
                </a:solidFill>
              </a:rPr>
              <a:t>›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4750194" y="2286000"/>
            <a:ext cx="1290790" cy="1371600"/>
          </a:xfrm>
          <a:prstGeom prst="rect">
            <a:avLst/>
          </a:prstGeom>
          <a:solidFill>
            <a:srgbClr val="1F6F46"/>
          </a:solidFill>
          <a:ln w="12700">
            <a:solidFill>
              <a:srgbClr val="1F6F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0194" y="2414016"/>
            <a:ext cx="12907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BFE3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/>
          </a:p>
        </p:txBody>
      </p:sp>
      <p:sp>
        <p:nvSpPr>
          <p:cNvPr id="19" name="Text 17"/>
          <p:cNvSpPr/>
          <p:nvPr/>
        </p:nvSpPr>
        <p:spPr>
          <a:xfrm>
            <a:off x="4795914" y="2798064"/>
            <a:ext cx="11993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Впровадження (SDLC + ШІ)</a:t>
            </a:r>
            <a:endParaRPr lang="en-US" sz="980"/>
          </a:p>
        </p:txBody>
      </p:sp>
      <p:sp>
        <p:nvSpPr>
          <p:cNvPr id="20" name="Text 18"/>
          <p:cNvSpPr/>
          <p:nvPr/>
        </p:nvSpPr>
        <p:spPr>
          <a:xfrm>
            <a:off x="6022696" y="265176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5A6B62"/>
                </a:solidFill>
              </a:rPr>
              <a:t>›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6150712" y="2286000"/>
            <a:ext cx="1290790" cy="1371600"/>
          </a:xfrm>
          <a:prstGeom prst="rect">
            <a:avLst/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50712" y="2414016"/>
            <a:ext cx="12907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F6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/>
          </a:p>
        </p:txBody>
      </p:sp>
      <p:sp>
        <p:nvSpPr>
          <p:cNvPr id="23" name="Text 21"/>
          <p:cNvSpPr/>
          <p:nvPr/>
        </p:nvSpPr>
        <p:spPr>
          <a:xfrm>
            <a:off x="6196432" y="2798064"/>
            <a:ext cx="11993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Верифікація</a:t>
            </a:r>
            <a:endParaRPr lang="en-US" sz="980"/>
          </a:p>
        </p:txBody>
      </p:sp>
      <p:sp>
        <p:nvSpPr>
          <p:cNvPr id="24" name="Text 22"/>
          <p:cNvSpPr/>
          <p:nvPr/>
        </p:nvSpPr>
        <p:spPr>
          <a:xfrm>
            <a:off x="7423214" y="265176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5A6B62"/>
                </a:solidFill>
              </a:rPr>
              <a:t>›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7551230" y="2286000"/>
            <a:ext cx="1290790" cy="1371600"/>
          </a:xfrm>
          <a:prstGeom prst="rect">
            <a:avLst/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51230" y="2414016"/>
            <a:ext cx="12907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F6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700"/>
          </a:p>
        </p:txBody>
      </p:sp>
      <p:sp>
        <p:nvSpPr>
          <p:cNvPr id="27" name="Text 25"/>
          <p:cNvSpPr/>
          <p:nvPr/>
        </p:nvSpPr>
        <p:spPr>
          <a:xfrm>
            <a:off x="7596950" y="2798064"/>
            <a:ext cx="11993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Реліз</a:t>
            </a:r>
            <a:endParaRPr lang="en-US" sz="980"/>
          </a:p>
        </p:txBody>
      </p:sp>
      <p:sp>
        <p:nvSpPr>
          <p:cNvPr id="28" name="Text 26"/>
          <p:cNvSpPr/>
          <p:nvPr/>
        </p:nvSpPr>
        <p:spPr>
          <a:xfrm>
            <a:off x="8823731" y="265176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5A6B62"/>
                </a:solidFill>
              </a:rPr>
              <a:t>›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8951747" y="2286000"/>
            <a:ext cx="1290790" cy="1371600"/>
          </a:xfrm>
          <a:prstGeom prst="rect">
            <a:avLst/>
          </a:prstGeom>
          <a:solidFill>
            <a:srgbClr val="1F6F46"/>
          </a:solidFill>
          <a:ln w="12700">
            <a:solidFill>
              <a:srgbClr val="1F6F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51747" y="2414016"/>
            <a:ext cx="12907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BFE3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700"/>
          </a:p>
        </p:txBody>
      </p:sp>
      <p:sp>
        <p:nvSpPr>
          <p:cNvPr id="31" name="Text 29"/>
          <p:cNvSpPr/>
          <p:nvPr/>
        </p:nvSpPr>
        <p:spPr>
          <a:xfrm>
            <a:off x="8997467" y="2798064"/>
            <a:ext cx="11993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Експлуатація</a:t>
            </a:r>
            <a:endParaRPr lang="en-US" sz="980"/>
          </a:p>
        </p:txBody>
      </p:sp>
      <p:sp>
        <p:nvSpPr>
          <p:cNvPr id="32" name="Text 30"/>
          <p:cNvSpPr/>
          <p:nvPr/>
        </p:nvSpPr>
        <p:spPr>
          <a:xfrm>
            <a:off x="10224249" y="265176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5A6B62"/>
                </a:solidFill>
              </a:rPr>
              <a:t>›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10352265" y="2286000"/>
            <a:ext cx="1290790" cy="1371600"/>
          </a:xfrm>
          <a:prstGeom prst="rect">
            <a:avLst/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52265" y="2414016"/>
            <a:ext cx="12907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F6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700"/>
          </a:p>
        </p:txBody>
      </p:sp>
      <p:sp>
        <p:nvSpPr>
          <p:cNvPr id="35" name="Text 33"/>
          <p:cNvSpPr/>
          <p:nvPr/>
        </p:nvSpPr>
        <p:spPr>
          <a:xfrm>
            <a:off x="10397985" y="2798064"/>
            <a:ext cx="11993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Виведення</a:t>
            </a:r>
            <a:endParaRPr lang="en-US" sz="980"/>
          </a:p>
        </p:txBody>
      </p:sp>
      <p:sp>
        <p:nvSpPr>
          <p:cNvPr id="36" name="Shape 34"/>
          <p:cNvSpPr/>
          <p:nvPr/>
        </p:nvSpPr>
        <p:spPr>
          <a:xfrm>
            <a:off x="548640" y="4160520"/>
            <a:ext cx="11094415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8640" y="4160520"/>
            <a:ext cx="64008" cy="155448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8" name="Shape 36"/>
          <p:cNvSpPr/>
          <p:nvPr/>
        </p:nvSpPr>
        <p:spPr>
          <a:xfrm>
            <a:off x="786384" y="437997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4522622"/>
            <a:ext cx="263347" cy="263347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1481328" y="4379976"/>
            <a:ext cx="9923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ШІ — єдине джерело управління</a:t>
            </a:r>
            <a:endParaRPr lang="en-US" sz="1500"/>
          </a:p>
        </p:txBody>
      </p:sp>
      <p:sp>
        <p:nvSpPr>
          <p:cNvPr id="41" name="Text 38"/>
          <p:cNvSpPr/>
          <p:nvPr/>
        </p:nvSpPr>
        <p:spPr>
          <a:xfrm>
            <a:off x="822960" y="5074920"/>
            <a:ext cx="10545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Реєструє призначення, дані, інтеграції, постачальника, рівень ризику, власника ризику та погоджені контролі. Зміна моделі / даних / постачальника — автоматичний тригер повторної оцінки ризику. На вході: попередня класифікація (чи це ШІ, персональні дані, технологія поза банківським стандартом → GTAB).</a:t>
            </a:r>
            <a:endParaRPr lang="en-US" sz="1200"/>
          </a:p>
        </p:txBody>
      </p:sp>
      <p:sp>
        <p:nvSpPr>
          <p:cNvPr id="42" name="Text 3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 «ОТП БАНК»  ·  Конфіденційно — деталі узагальнено для публічного виступу</a:t>
            </a:r>
            <a:endParaRPr lang="en-US" sz="850"/>
          </a:p>
        </p:txBody>
      </p:sp>
      <p:sp>
        <p:nvSpPr>
          <p:cNvPr id="43" name="Text 40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8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SECURITY-BY-DESIGN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Архітектурні контролі для ШІ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1860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64008" cy="173736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204825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2190902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048256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Trust-сегментація</a:t>
            </a:r>
            <a:endParaRPr lang="en-US" sz="1550"/>
          </a:p>
        </p:txBody>
      </p:sp>
      <p:sp>
        <p:nvSpPr>
          <p:cNvPr id="10" name="Text 7"/>
          <p:cNvSpPr/>
          <p:nvPr/>
        </p:nvSpPr>
        <p:spPr>
          <a:xfrm>
            <a:off x="822960" y="2743200"/>
            <a:ext cx="476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Ізоляція ШІ-навантажень; перевірка кожного доступу; принцип мінімальних привілеїв.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6324448" y="1828800"/>
            <a:ext cx="531860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24448" y="1828800"/>
            <a:ext cx="64008" cy="173736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3" name="Shape 10"/>
          <p:cNvSpPr/>
          <p:nvPr/>
        </p:nvSpPr>
        <p:spPr>
          <a:xfrm>
            <a:off x="6562192" y="204825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838" y="2190902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57136" y="2048256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egress + DLP</a:t>
            </a:r>
            <a:endParaRPr lang="en-US" sz="1550"/>
          </a:p>
        </p:txBody>
      </p:sp>
      <p:sp>
        <p:nvSpPr>
          <p:cNvPr id="16" name="Text 12"/>
          <p:cNvSpPr/>
          <p:nvPr/>
        </p:nvSpPr>
        <p:spPr>
          <a:xfrm>
            <a:off x="6598768" y="2743200"/>
            <a:ext cx="476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Журнальований вихідний трафік до зовнішніх ШІ-сервісів із перевіркою правилами запобігання витоку.</a:t>
            </a:r>
            <a:endParaRPr lang="en-US" sz="1200"/>
          </a:p>
        </p:txBody>
      </p:sp>
      <p:sp>
        <p:nvSpPr>
          <p:cNvPr id="17" name="Shape 13"/>
          <p:cNvSpPr/>
          <p:nvPr/>
        </p:nvSpPr>
        <p:spPr>
          <a:xfrm>
            <a:off x="548640" y="3886200"/>
            <a:ext cx="531860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3886200"/>
            <a:ext cx="64008" cy="173736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9" name="Shape 15"/>
          <p:cNvSpPr/>
          <p:nvPr/>
        </p:nvSpPr>
        <p:spPr>
          <a:xfrm>
            <a:off x="786384" y="410565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" y="4248302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81328" y="4105656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Фільтрація вводу/виводу</a:t>
            </a:r>
            <a:endParaRPr lang="en-US" sz="1550"/>
          </a:p>
        </p:txBody>
      </p:sp>
      <p:sp>
        <p:nvSpPr>
          <p:cNvPr id="22" name="Text 17"/>
          <p:cNvSpPr/>
          <p:nvPr/>
        </p:nvSpPr>
        <p:spPr>
          <a:xfrm>
            <a:off x="822960" y="4800600"/>
            <a:ext cx="476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Захист від prompt-injection; контроль і санітизація відповідей моделі.</a:t>
            </a:r>
            <a:endParaRPr lang="en-US" sz="1200"/>
          </a:p>
        </p:txBody>
      </p:sp>
      <p:sp>
        <p:nvSpPr>
          <p:cNvPr id="23" name="Shape 18"/>
          <p:cNvSpPr/>
          <p:nvPr/>
        </p:nvSpPr>
        <p:spPr>
          <a:xfrm>
            <a:off x="6324448" y="3886200"/>
            <a:ext cx="531860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324448" y="3886200"/>
            <a:ext cx="64008" cy="173736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25" name="Shape 20"/>
          <p:cNvSpPr/>
          <p:nvPr/>
        </p:nvSpPr>
        <p:spPr>
          <a:xfrm>
            <a:off x="6562192" y="410565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4838" y="4248302"/>
            <a:ext cx="263347" cy="26334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57136" y="4105656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Заборона передачі чутливих даних</a:t>
            </a:r>
            <a:endParaRPr lang="en-US" sz="1550"/>
          </a:p>
        </p:txBody>
      </p:sp>
      <p:sp>
        <p:nvSpPr>
          <p:cNvPr id="28" name="Text 22"/>
          <p:cNvSpPr/>
          <p:nvPr/>
        </p:nvSpPr>
        <p:spPr>
          <a:xfrm>
            <a:off x="6598768" y="4800600"/>
            <a:ext cx="476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Банківська таємниця, ПДн, ключі, токени та код не йдуть у неавторизовані зовнішні ШІ.</a:t>
            </a:r>
            <a:endParaRPr lang="en-US" sz="1200"/>
          </a:p>
        </p:txBody>
      </p:sp>
      <p:sp>
        <p:nvSpPr>
          <p:cNvPr id="29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 «ОТП БАНК»  ·  Конфіденційно — деталі узагальнено для публічного виступу</a:t>
            </a:r>
            <a:endParaRPr lang="en-US" sz="850"/>
          </a:p>
        </p:txBody>
      </p:sp>
      <p:sp>
        <p:nvSpPr>
          <p:cNvPr id="30" name="Text 24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ЗАЛЕЖНІСТЬ ВІД ПОСТАЧАЛЬНИКІВ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Концентраційний ризик — головний виклик стійкості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114800" cy="3794760"/>
          </a:xfrm>
          <a:prstGeom prst="rect">
            <a:avLst/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82296" cy="3794760"/>
          </a:xfrm>
          <a:prstGeom prst="rect">
            <a:avLst/>
          </a:prstGeom>
          <a:solidFill>
            <a:srgbClr val="C8821A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236098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01752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Кілька провайдерів GPAI та хмар стають спільною критичною залежністю одразу для багатьох банків</a:t>
            </a:r>
            <a:endParaRPr lang="en-US" sz="1700"/>
          </a:p>
        </p:txBody>
      </p:sp>
      <p:sp>
        <p:nvSpPr>
          <p:cNvPr id="10" name="Text 7"/>
          <p:cNvSpPr/>
          <p:nvPr/>
        </p:nvSpPr>
        <p:spPr>
          <a:xfrm>
            <a:off x="868680" y="4937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C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спільні «єдині точки відмови» сектору</a:t>
            </a:r>
            <a:endParaRPr lang="en-US" sz="1300"/>
          </a:p>
        </p:txBody>
      </p:sp>
      <p:sp>
        <p:nvSpPr>
          <p:cNvPr id="11" name="Shape 8"/>
          <p:cNvSpPr/>
          <p:nvPr/>
        </p:nvSpPr>
        <p:spPr>
          <a:xfrm>
            <a:off x="5029200" y="1874520"/>
            <a:ext cx="661385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0" y="1874520"/>
            <a:ext cx="64008" cy="1170432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3" name="Shape 10"/>
          <p:cNvSpPr/>
          <p:nvPr/>
        </p:nvSpPr>
        <p:spPr>
          <a:xfrm>
            <a:off x="5266944" y="209397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9590" y="2236622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961888" y="2093976"/>
            <a:ext cx="54434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Попередня оцінка третьої сторони</a:t>
            </a:r>
            <a:endParaRPr lang="en-US" sz="1450"/>
          </a:p>
        </p:txBody>
      </p:sp>
      <p:sp>
        <p:nvSpPr>
          <p:cNvPr id="16" name="Text 12"/>
          <p:cNvSpPr/>
          <p:nvPr/>
        </p:nvSpPr>
        <p:spPr>
          <a:xfrm>
            <a:off x="5303520" y="2788920"/>
            <a:ext cx="606521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впровадження — оцінка ризику постачальника та всього сервісного ланцюга (QBR).</a:t>
            </a:r>
            <a:endParaRPr lang="en-US" sz="1100"/>
          </a:p>
        </p:txBody>
      </p:sp>
      <p:sp>
        <p:nvSpPr>
          <p:cNvPr id="17" name="Shape 13"/>
          <p:cNvSpPr/>
          <p:nvPr/>
        </p:nvSpPr>
        <p:spPr>
          <a:xfrm>
            <a:off x="5029200" y="3209544"/>
            <a:ext cx="661385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29200" y="3209544"/>
            <a:ext cx="64008" cy="1170432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9" name="Shape 15"/>
          <p:cNvSpPr/>
          <p:nvPr/>
        </p:nvSpPr>
        <p:spPr>
          <a:xfrm>
            <a:off x="5266944" y="3429000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9590" y="3571646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961888" y="3429000"/>
            <a:ext cx="54434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ланцюга субпідрядників</a:t>
            </a:r>
            <a:endParaRPr lang="en-US" sz="1450"/>
          </a:p>
        </p:txBody>
      </p:sp>
      <p:sp>
        <p:nvSpPr>
          <p:cNvPr id="22" name="Text 17"/>
          <p:cNvSpPr/>
          <p:nvPr/>
        </p:nvSpPr>
        <p:spPr>
          <a:xfrm>
            <a:off x="5303520" y="4123944"/>
            <a:ext cx="606521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Договірна прозорість, завчасне повідомлення про зміни, право припинити договір.</a:t>
            </a:r>
            <a:endParaRPr lang="en-US" sz="1100"/>
          </a:p>
        </p:txBody>
      </p:sp>
      <p:sp>
        <p:nvSpPr>
          <p:cNvPr id="23" name="Shape 18"/>
          <p:cNvSpPr/>
          <p:nvPr/>
        </p:nvSpPr>
        <p:spPr>
          <a:xfrm>
            <a:off x="5029200" y="4544568"/>
            <a:ext cx="661385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029200" y="4544568"/>
            <a:ext cx="64008" cy="1170432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25" name="Shape 20"/>
          <p:cNvSpPr/>
          <p:nvPr/>
        </p:nvSpPr>
        <p:spPr>
          <a:xfrm>
            <a:off x="5266944" y="4764024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9590" y="4906670"/>
            <a:ext cx="263347" cy="26334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961888" y="4764024"/>
            <a:ext cx="54434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Критичні / важливі функції (DORA)</a:t>
            </a:r>
            <a:endParaRPr lang="en-US" sz="1450"/>
          </a:p>
        </p:txBody>
      </p:sp>
      <p:sp>
        <p:nvSpPr>
          <p:cNvPr id="28" name="Text 22"/>
          <p:cNvSpPr/>
          <p:nvPr/>
        </p:nvSpPr>
        <p:spPr>
          <a:xfrm>
            <a:off x="5303520" y="5458968"/>
            <a:ext cx="606521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Посилені вимоги, право контролю наглядового органу; для GPAI — декларація відповідності.</a:t>
            </a:r>
            <a:endParaRPr lang="en-US" sz="1100"/>
          </a:p>
        </p:txBody>
      </p:sp>
      <p:sp>
        <p:nvSpPr>
          <p:cNvPr id="29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 «ОТП БАНК»  ·  Конфіденційно — деталі узагальнено для публічного виступу</a:t>
            </a:r>
            <a:endParaRPr lang="en-US" sz="850"/>
          </a:p>
        </p:txBody>
      </p:sp>
      <p:sp>
        <p:nvSpPr>
          <p:cNvPr id="30" name="Text 24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8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РЕАГУВАННЯ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Інцидент ШІ — спільна відповідальність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1525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64008" cy="274320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241401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2556662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41401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 + провайдер</a:t>
            </a:r>
            <a:endParaRPr lang="en-US" sz="1500"/>
          </a:p>
        </p:txBody>
      </p:sp>
      <p:sp>
        <p:nvSpPr>
          <p:cNvPr id="10" name="Text 7"/>
          <p:cNvSpPr/>
          <p:nvPr/>
        </p:nvSpPr>
        <p:spPr>
          <a:xfrm>
            <a:off x="822960" y="3108960"/>
            <a:ext cx="296661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Спільний і скоординований процес; негайне сповіщення про інцидент на боці провайдера, що нас зачіпає.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4338218" y="2194560"/>
            <a:ext cx="351525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38218" y="2194560"/>
            <a:ext cx="64008" cy="274320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5962" y="241401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609" y="2556662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70906" y="241401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Розширене поняття інциденту</a:t>
            </a:r>
            <a:endParaRPr lang="en-US" sz="1500"/>
          </a:p>
        </p:txBody>
      </p:sp>
      <p:sp>
        <p:nvSpPr>
          <p:cNvPr id="16" name="Text 12"/>
          <p:cNvSpPr/>
          <p:nvPr/>
        </p:nvSpPr>
        <p:spPr>
          <a:xfrm>
            <a:off x="4612538" y="3108960"/>
            <a:ext cx="296661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лише атаки, а й провалені тести (DRP та безпекові) на боці провайдера — це сигнал майбутньої загрози.</a:t>
            </a:r>
            <a:endParaRPr lang="en-US" sz="1200"/>
          </a:p>
        </p:txBody>
      </p:sp>
      <p:sp>
        <p:nvSpPr>
          <p:cNvPr id="17" name="Shape 13"/>
          <p:cNvSpPr/>
          <p:nvPr/>
        </p:nvSpPr>
        <p:spPr>
          <a:xfrm>
            <a:off x="8127797" y="2194560"/>
            <a:ext cx="351525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27797" y="2194560"/>
            <a:ext cx="64008" cy="274320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9" name="Shape 15"/>
          <p:cNvSpPr/>
          <p:nvPr/>
        </p:nvSpPr>
        <p:spPr>
          <a:xfrm>
            <a:off x="8365541" y="241401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8187" y="2556662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60485" y="241401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ШІ-специфічні індикатори</a:t>
            </a:r>
            <a:endParaRPr lang="en-US" sz="1500"/>
          </a:p>
        </p:txBody>
      </p:sp>
      <p:sp>
        <p:nvSpPr>
          <p:cNvPr id="22" name="Text 17"/>
          <p:cNvSpPr/>
          <p:nvPr/>
        </p:nvSpPr>
        <p:spPr>
          <a:xfrm>
            <a:off x="8402117" y="3108960"/>
            <a:ext cx="296661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Деградація якості, дрейф, отруєння даних, змагальні атаки, витік моделі — власні засоби виявлення.</a:t>
            </a:r>
            <a:endParaRPr lang="en-US" sz="1200"/>
          </a:p>
        </p:txBody>
      </p:sp>
      <p:sp>
        <p:nvSpPr>
          <p:cNvPr id="23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 «ОТП БАНК»  ·  Конфіденційно — деталі узагальнено для публічного виступу</a:t>
            </a:r>
            <a:endParaRPr lang="en-US" sz="850"/>
          </a:p>
        </p:txBody>
      </p:sp>
      <p:sp>
        <p:nvSpPr>
          <p:cNvPr id="24" name="Text 19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8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БЕЗПЕРЕРВНІСТЬ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BCP / DRP для ШІ: вихід обовʼязковий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Впровадження ШІ без стратегії виходу не погоджується. ШІ підпорядковується тій самій дисципліні безперервності, що й критичні банківські системи.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3186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606040"/>
            <a:ext cx="64008" cy="1481328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282549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2968142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81328" y="2825496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виведення (exit)</a:t>
            </a:r>
            <a:endParaRPr lang="en-US" sz="1500"/>
          </a:p>
        </p:txBody>
      </p:sp>
      <p:sp>
        <p:nvSpPr>
          <p:cNvPr id="11" name="Text 8"/>
          <p:cNvSpPr/>
          <p:nvPr/>
        </p:nvSpPr>
        <p:spPr>
          <a:xfrm>
            <a:off x="822960" y="3520440"/>
            <a:ext cx="476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Покрокова дорожня карта, ролі сторін, тестові сценарії, критерії приймання.</a:t>
            </a:r>
            <a:endParaRPr lang="en-US" sz="1150"/>
          </a:p>
        </p:txBody>
      </p:sp>
      <p:sp>
        <p:nvSpPr>
          <p:cNvPr id="12" name="Shape 9"/>
          <p:cNvSpPr/>
          <p:nvPr/>
        </p:nvSpPr>
        <p:spPr>
          <a:xfrm>
            <a:off x="6324448" y="2606040"/>
            <a:ext cx="53186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24448" y="2606040"/>
            <a:ext cx="64008" cy="1481328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4" name="Shape 11"/>
          <p:cNvSpPr/>
          <p:nvPr/>
        </p:nvSpPr>
        <p:spPr>
          <a:xfrm>
            <a:off x="6562192" y="282549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838" y="2968142"/>
            <a:ext cx="263347" cy="26334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57136" y="2825496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playbook</a:t>
            </a:r>
            <a:endParaRPr lang="en-US" sz="1500"/>
          </a:p>
        </p:txBody>
      </p:sp>
      <p:sp>
        <p:nvSpPr>
          <p:cNvPr id="17" name="Text 13"/>
          <p:cNvSpPr/>
          <p:nvPr/>
        </p:nvSpPr>
        <p:spPr>
          <a:xfrm>
            <a:off x="6598768" y="3520440"/>
            <a:ext cx="476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Сценарій найгіршого випадку відпрацьований заздалегідь, а не в момент збою.</a:t>
            </a:r>
            <a:endParaRPr lang="en-US" sz="1150"/>
          </a:p>
        </p:txBody>
      </p:sp>
      <p:sp>
        <p:nvSpPr>
          <p:cNvPr id="18" name="Shape 14"/>
          <p:cNvSpPr/>
          <p:nvPr/>
        </p:nvSpPr>
        <p:spPr>
          <a:xfrm>
            <a:off x="548640" y="4361688"/>
            <a:ext cx="53186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4361688"/>
            <a:ext cx="64008" cy="1481328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20" name="Shape 16"/>
          <p:cNvSpPr/>
          <p:nvPr/>
        </p:nvSpPr>
        <p:spPr>
          <a:xfrm>
            <a:off x="786384" y="4581144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" y="4723790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81328" y="4581144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Втрата підтримки вендора</a:t>
            </a:r>
            <a:endParaRPr lang="en-US" sz="1500"/>
          </a:p>
        </p:txBody>
      </p:sp>
      <p:sp>
        <p:nvSpPr>
          <p:cNvPr id="23" name="Text 18"/>
          <p:cNvSpPr/>
          <p:nvPr/>
        </p:nvSpPr>
        <p:spPr>
          <a:xfrm>
            <a:off x="822960" y="5276088"/>
            <a:ext cx="476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Базовий сценарій — особливо для моделей, що потребують перенавчання.</a:t>
            </a:r>
            <a:endParaRPr lang="en-US" sz="1150"/>
          </a:p>
        </p:txBody>
      </p:sp>
      <p:sp>
        <p:nvSpPr>
          <p:cNvPr id="24" name="Shape 19"/>
          <p:cNvSpPr/>
          <p:nvPr/>
        </p:nvSpPr>
        <p:spPr>
          <a:xfrm>
            <a:off x="6324448" y="4361688"/>
            <a:ext cx="53186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324448" y="4361688"/>
            <a:ext cx="64008" cy="1481328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26" name="Shape 21"/>
          <p:cNvSpPr/>
          <p:nvPr/>
        </p:nvSpPr>
        <p:spPr>
          <a:xfrm>
            <a:off x="6562192" y="4581144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4838" y="4723790"/>
            <a:ext cx="263347" cy="26334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57136" y="4581144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Технічна надмірність</a:t>
            </a:r>
            <a:endParaRPr lang="en-US" sz="1500"/>
          </a:p>
        </p:txBody>
      </p:sp>
      <p:sp>
        <p:nvSpPr>
          <p:cNvPr id="29" name="Text 23"/>
          <p:cNvSpPr/>
          <p:nvPr/>
        </p:nvSpPr>
        <p:spPr>
          <a:xfrm>
            <a:off x="6598768" y="5276088"/>
            <a:ext cx="476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 і можливість відновити дані / перевести сервіс або в локальну експлуатацію.</a:t>
            </a:r>
            <a:endParaRPr lang="en-US" sz="1150"/>
          </a:p>
        </p:txBody>
      </p:sp>
      <p:sp>
        <p:nvSpPr>
          <p:cNvPr id="30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 «ОТП БАНК»  ·  Конфіденційно — деталі узагальнено для публічного виступу</a:t>
            </a:r>
            <a:endParaRPr lang="en-US" sz="850"/>
          </a:p>
        </p:txBody>
      </p:sp>
      <p:sp>
        <p:nvSpPr>
          <p:cNvPr id="31" name="Text 25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8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 СТІЙКОСТІ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Трирівнева програма + red-teaming GenAI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1525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64008" cy="228600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200253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2145182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00253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Передрелізне тестування</a:t>
            </a:r>
            <a:endParaRPr lang="en-US" sz="1400"/>
          </a:p>
        </p:txBody>
      </p:sp>
      <p:sp>
        <p:nvSpPr>
          <p:cNvPr id="10" name="Text 7"/>
          <p:cNvSpPr/>
          <p:nvPr/>
        </p:nvSpPr>
        <p:spPr>
          <a:xfrm>
            <a:off x="822960" y="2697480"/>
            <a:ext cx="296661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Безпекове тестування до експлуатації з документованими звітами; точність, стабільність, кіберстійкість; критерії приймання.</a:t>
            </a:r>
            <a:endParaRPr lang="en-US" sz="1100"/>
          </a:p>
        </p:txBody>
      </p:sp>
      <p:sp>
        <p:nvSpPr>
          <p:cNvPr id="11" name="Shape 8"/>
          <p:cNvSpPr/>
          <p:nvPr/>
        </p:nvSpPr>
        <p:spPr>
          <a:xfrm>
            <a:off x="4338218" y="1783080"/>
            <a:ext cx="351525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38218" y="1783080"/>
            <a:ext cx="64008" cy="228600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5962" y="200253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609" y="2145182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70906" y="200253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Післявпроваджувальний моніторинг</a:t>
            </a:r>
            <a:endParaRPr lang="en-US" sz="1400"/>
          </a:p>
        </p:txBody>
      </p:sp>
      <p:sp>
        <p:nvSpPr>
          <p:cNvPr id="16" name="Text 12"/>
          <p:cNvSpPr/>
          <p:nvPr/>
        </p:nvSpPr>
        <p:spPr>
          <a:xfrm>
            <a:off x="4612538" y="2697480"/>
            <a:ext cx="296661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продуктивності, концептуального дрейфу й деградації моделі; управління feedback loops; пороги й метрики.</a:t>
            </a:r>
            <a:endParaRPr lang="en-US" sz="1100"/>
          </a:p>
        </p:txBody>
      </p:sp>
      <p:sp>
        <p:nvSpPr>
          <p:cNvPr id="17" name="Shape 13"/>
          <p:cNvSpPr/>
          <p:nvPr/>
        </p:nvSpPr>
        <p:spPr>
          <a:xfrm>
            <a:off x="8127797" y="1783080"/>
            <a:ext cx="351525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27797" y="1783080"/>
            <a:ext cx="64008" cy="2286000"/>
          </a:xfrm>
          <a:prstGeom prst="rect">
            <a:avLst/>
          </a:prstGeom>
          <a:solidFill>
            <a:srgbClr val="C8821A"/>
          </a:solidFill>
          <a:ln/>
        </p:spPr>
      </p:sp>
      <p:sp>
        <p:nvSpPr>
          <p:cNvPr id="19" name="Shape 15"/>
          <p:cNvSpPr/>
          <p:nvPr/>
        </p:nvSpPr>
        <p:spPr>
          <a:xfrm>
            <a:off x="8365541" y="2002536"/>
            <a:ext cx="548640" cy="548640"/>
          </a:xfrm>
          <a:prstGeom prst="ellipse">
            <a:avLst/>
          </a:prstGeom>
          <a:solidFill>
            <a:srgbClr val="FFF1DC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8187" y="2145182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60485" y="200253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Red-teaming / adversarial</a:t>
            </a:r>
            <a:endParaRPr lang="en-US" sz="1400"/>
          </a:p>
        </p:txBody>
      </p:sp>
      <p:sp>
        <p:nvSpPr>
          <p:cNvPr id="22" name="Text 17"/>
          <p:cNvSpPr/>
          <p:nvPr/>
        </p:nvSpPr>
        <p:spPr>
          <a:xfrm>
            <a:off x="8402117" y="2697480"/>
            <a:ext cx="296661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Контрольований злам у безпечному середовищі; для зовнішніх моделей — чорноскринькове + докази тестування від провайдера.</a:t>
            </a:r>
            <a:endParaRPr lang="en-US" sz="1100"/>
          </a:p>
        </p:txBody>
      </p:sp>
      <p:sp>
        <p:nvSpPr>
          <p:cNvPr id="23" name="Text 18"/>
          <p:cNvSpPr/>
          <p:nvPr/>
        </p:nvSpPr>
        <p:spPr>
          <a:xfrm>
            <a:off x="548640" y="4251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 атак, що тестуємо:</a:t>
            </a:r>
            <a:endParaRPr lang="en-US" sz="1200"/>
          </a:p>
        </p:txBody>
      </p:sp>
      <p:sp>
        <p:nvSpPr>
          <p:cNvPr id="24" name="Shape 19"/>
          <p:cNvSpPr/>
          <p:nvPr/>
        </p:nvSpPr>
        <p:spPr>
          <a:xfrm>
            <a:off x="548640" y="4681728"/>
            <a:ext cx="2326234" cy="365760"/>
          </a:xfrm>
          <a:prstGeom prst="roundRect">
            <a:avLst>
              <a:gd name="adj" fmla="val 20000"/>
            </a:avLst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48640" y="4681728"/>
            <a:ext cx="2326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/ jailbreak</a:t>
            </a:r>
            <a:endParaRPr lang="en-US" sz="1050"/>
          </a:p>
        </p:txBody>
      </p:sp>
      <p:sp>
        <p:nvSpPr>
          <p:cNvPr id="26" name="Shape 21"/>
          <p:cNvSpPr/>
          <p:nvPr/>
        </p:nvSpPr>
        <p:spPr>
          <a:xfrm>
            <a:off x="3039466" y="4681728"/>
            <a:ext cx="1870862" cy="365760"/>
          </a:xfrm>
          <a:prstGeom prst="roundRect">
            <a:avLst>
              <a:gd name="adj" fmla="val 20000"/>
            </a:avLst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039466" y="4681728"/>
            <a:ext cx="18708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model poisoning</a:t>
            </a:r>
            <a:endParaRPr lang="en-US" sz="1050"/>
          </a:p>
        </p:txBody>
      </p:sp>
      <p:sp>
        <p:nvSpPr>
          <p:cNvPr id="28" name="Shape 23"/>
          <p:cNvSpPr/>
          <p:nvPr/>
        </p:nvSpPr>
        <p:spPr>
          <a:xfrm>
            <a:off x="5074920" y="4681728"/>
            <a:ext cx="1794967" cy="365760"/>
          </a:xfrm>
          <a:prstGeom prst="roundRect">
            <a:avLst>
              <a:gd name="adj" fmla="val 20000"/>
            </a:avLst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074920" y="4681728"/>
            <a:ext cx="17949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/ evasion</a:t>
            </a:r>
            <a:endParaRPr lang="en-US" sz="1050"/>
          </a:p>
        </p:txBody>
      </p:sp>
      <p:sp>
        <p:nvSpPr>
          <p:cNvPr id="30" name="Shape 25"/>
          <p:cNvSpPr/>
          <p:nvPr/>
        </p:nvSpPr>
        <p:spPr>
          <a:xfrm>
            <a:off x="7034479" y="4681728"/>
            <a:ext cx="1415491" cy="365760"/>
          </a:xfrm>
          <a:prstGeom prst="roundRect">
            <a:avLst>
              <a:gd name="adj" fmla="val 20000"/>
            </a:avLst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034479" y="4681728"/>
            <a:ext cx="14154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extraction</a:t>
            </a:r>
            <a:endParaRPr lang="en-US" sz="1050"/>
          </a:p>
        </p:txBody>
      </p:sp>
      <p:sp>
        <p:nvSpPr>
          <p:cNvPr id="32" name="Shape 27"/>
          <p:cNvSpPr/>
          <p:nvPr/>
        </p:nvSpPr>
        <p:spPr>
          <a:xfrm>
            <a:off x="8614562" y="4681728"/>
            <a:ext cx="1111910" cy="365760"/>
          </a:xfrm>
          <a:prstGeom prst="roundRect">
            <a:avLst>
              <a:gd name="adj" fmla="val 20000"/>
            </a:avLst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614562" y="4681728"/>
            <a:ext cx="11119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</a:t>
            </a:r>
            <a:endParaRPr lang="en-US" sz="1050"/>
          </a:p>
        </p:txBody>
      </p:sp>
      <p:sp>
        <p:nvSpPr>
          <p:cNvPr id="34" name="Shape 29"/>
          <p:cNvSpPr/>
          <p:nvPr/>
        </p:nvSpPr>
        <p:spPr>
          <a:xfrm>
            <a:off x="9891065" y="4681728"/>
            <a:ext cx="1187806" cy="365760"/>
          </a:xfrm>
          <a:prstGeom prst="roundRect">
            <a:avLst>
              <a:gd name="adj" fmla="val 20000"/>
            </a:avLst>
          </a:prstGeom>
          <a:solidFill>
            <a:srgbClr val="EAF3EE"/>
          </a:solidFill>
          <a:ln w="12700">
            <a:solidFill>
              <a:srgbClr val="D6E3DB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9891065" y="4681728"/>
            <a:ext cx="1187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050"/>
          </a:p>
        </p:txBody>
      </p:sp>
      <p:sp>
        <p:nvSpPr>
          <p:cNvPr id="36" name="Text 31"/>
          <p:cNvSpPr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Рамки: OWASP Top 10 for LLM · MITRE ATLAS · NIST AI RMF · ISO/IEC 42001 — тестування незалежне, повторюване, ескалюється в AI Risk WG.</a:t>
            </a:r>
            <a:endParaRPr lang="en-US" sz="1100"/>
          </a:p>
        </p:txBody>
      </p:sp>
      <p:sp>
        <p:nvSpPr>
          <p:cNvPr id="37" name="Text 3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 «ОТП БАНК»  ·  Конфіденційно — деталі узагальнено для публічного виступу</a:t>
            </a:r>
            <a:endParaRPr lang="en-US" sz="850"/>
          </a:p>
        </p:txBody>
      </p:sp>
      <p:sp>
        <p:nvSpPr>
          <p:cNvPr id="38" name="Text 33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8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ВІДПОВІДНІСТЬ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DORA як референсна рамка — без перебільшень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31520" cy="73152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0647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28800"/>
            <a:ext cx="10134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частина європейської групи ми орієнтуємось на DORA при формуванні вимог до ШІ. Вимоги НБУ виконуємо як обовʼязкові. Частина вимог перебуває в імплементації — це нормальний процес для всього сектору.</a:t>
            </a:r>
            <a:endParaRPr lang="en-US" sz="145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531860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3063240"/>
            <a:ext cx="64008" cy="1207008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0" name="Shape 7"/>
          <p:cNvSpPr/>
          <p:nvPr/>
        </p:nvSpPr>
        <p:spPr>
          <a:xfrm>
            <a:off x="786384" y="328269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" y="3425342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81328" y="3282696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Ризик третіх сторін (ІКТ)</a:t>
            </a:r>
            <a:endParaRPr lang="en-US" sz="1400"/>
          </a:p>
        </p:txBody>
      </p:sp>
      <p:sp>
        <p:nvSpPr>
          <p:cNvPr id="13" name="Text 9"/>
          <p:cNvSpPr/>
          <p:nvPr/>
        </p:nvSpPr>
        <p:spPr>
          <a:xfrm>
            <a:off x="822960" y="3977640"/>
            <a:ext cx="4769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Оцінка й контроль постачальників та ланцюга.</a:t>
            </a:r>
            <a:endParaRPr lang="en-US" sz="1100"/>
          </a:p>
        </p:txBody>
      </p:sp>
      <p:sp>
        <p:nvSpPr>
          <p:cNvPr id="14" name="Shape 10"/>
          <p:cNvSpPr/>
          <p:nvPr/>
        </p:nvSpPr>
        <p:spPr>
          <a:xfrm>
            <a:off x="6324448" y="3063240"/>
            <a:ext cx="531860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24448" y="3063240"/>
            <a:ext cx="64008" cy="1207008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6" name="Shape 12"/>
          <p:cNvSpPr/>
          <p:nvPr/>
        </p:nvSpPr>
        <p:spPr>
          <a:xfrm>
            <a:off x="6562192" y="328269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4838" y="3425342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57136" y="3282696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Критичні / важливі функції</a:t>
            </a:r>
            <a:endParaRPr lang="en-US" sz="1400"/>
          </a:p>
        </p:txBody>
      </p:sp>
      <p:sp>
        <p:nvSpPr>
          <p:cNvPr id="19" name="Text 14"/>
          <p:cNvSpPr/>
          <p:nvPr/>
        </p:nvSpPr>
        <p:spPr>
          <a:xfrm>
            <a:off x="6598768" y="3977640"/>
            <a:ext cx="4769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Посилені вимоги до сервісів, що їх підтримують.</a:t>
            </a:r>
            <a:endParaRPr lang="en-US" sz="1100"/>
          </a:p>
        </p:txBody>
      </p:sp>
      <p:sp>
        <p:nvSpPr>
          <p:cNvPr id="20" name="Shape 15"/>
          <p:cNvSpPr/>
          <p:nvPr/>
        </p:nvSpPr>
        <p:spPr>
          <a:xfrm>
            <a:off x="548640" y="4526280"/>
            <a:ext cx="531860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8640" y="4526280"/>
            <a:ext cx="64008" cy="1207008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22" name="Shape 17"/>
          <p:cNvSpPr/>
          <p:nvPr/>
        </p:nvSpPr>
        <p:spPr>
          <a:xfrm>
            <a:off x="786384" y="474573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30" y="4888382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81328" y="4745736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 стійкості</a:t>
            </a:r>
            <a:endParaRPr lang="en-US" sz="1400"/>
          </a:p>
        </p:txBody>
      </p:sp>
      <p:sp>
        <p:nvSpPr>
          <p:cNvPr id="25" name="Text 19"/>
          <p:cNvSpPr/>
          <p:nvPr/>
        </p:nvSpPr>
        <p:spPr>
          <a:xfrm>
            <a:off x="822960" y="5440680"/>
            <a:ext cx="4769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Цифрова операційна стійкість як регулярна практика.</a:t>
            </a:r>
            <a:endParaRPr lang="en-US" sz="1100"/>
          </a:p>
        </p:txBody>
      </p:sp>
      <p:sp>
        <p:nvSpPr>
          <p:cNvPr id="26" name="Shape 20"/>
          <p:cNvSpPr/>
          <p:nvPr/>
        </p:nvSpPr>
        <p:spPr>
          <a:xfrm>
            <a:off x="6324448" y="4526280"/>
            <a:ext cx="531860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324448" y="4526280"/>
            <a:ext cx="64008" cy="1207008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28" name="Shape 22"/>
          <p:cNvSpPr/>
          <p:nvPr/>
        </p:nvSpPr>
        <p:spPr>
          <a:xfrm>
            <a:off x="6562192" y="474573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4838" y="4888382"/>
            <a:ext cx="263347" cy="26334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57136" y="4745736"/>
            <a:ext cx="414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Звітування про інциденти</a:t>
            </a:r>
            <a:endParaRPr lang="en-US" sz="1400"/>
          </a:p>
        </p:txBody>
      </p:sp>
      <p:sp>
        <p:nvSpPr>
          <p:cNvPr id="31" name="Text 24"/>
          <p:cNvSpPr/>
          <p:nvPr/>
        </p:nvSpPr>
        <p:spPr>
          <a:xfrm>
            <a:off x="6598768" y="5440680"/>
            <a:ext cx="4769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Узгоджені процеси сповіщення та ескалації.</a:t>
            </a:r>
            <a:endParaRPr lang="en-US" sz="1100"/>
          </a:p>
        </p:txBody>
      </p:sp>
      <p:sp>
        <p:nvSpPr>
          <p:cNvPr id="32" name="Text 2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 «ОТП БАНК»  ·  Конфіденційно — деталі узагальнено для публічного виступу</a:t>
            </a:r>
            <a:endParaRPr lang="en-US" sz="850"/>
          </a:p>
        </p:txBody>
      </p:sp>
      <p:sp>
        <p:nvSpPr>
          <p:cNvPr id="33" name="Text 26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1F6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ВНЕСОК ОТП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Що пропонуємо сектору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1525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64008" cy="274320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241401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2556662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41401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 критичних ШІ-залежностей</a:t>
            </a:r>
            <a:endParaRPr lang="en-US" sz="1500"/>
          </a:p>
        </p:txBody>
      </p:sp>
      <p:sp>
        <p:nvSpPr>
          <p:cNvPr id="10" name="Text 7"/>
          <p:cNvSpPr/>
          <p:nvPr/>
        </p:nvSpPr>
        <p:spPr>
          <a:xfrm>
            <a:off x="822960" y="3108960"/>
            <a:ext cx="296661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Спільно визначити «єдині точки відмови» сектору (GPAI, хмари, інференс) і метрику концентраційного ризику.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4338218" y="2194560"/>
            <a:ext cx="351525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38218" y="2194560"/>
            <a:ext cx="64008" cy="274320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5962" y="241401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609" y="2556662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70906" y="241401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Мінімальний договірний стандарт</a:t>
            </a:r>
            <a:endParaRPr lang="en-US" sz="1500"/>
          </a:p>
        </p:txBody>
      </p:sp>
      <p:sp>
        <p:nvSpPr>
          <p:cNvPr id="16" name="Text 12"/>
          <p:cNvSpPr/>
          <p:nvPr/>
        </p:nvSpPr>
        <p:spPr>
          <a:xfrm>
            <a:off x="4612538" y="3108960"/>
            <a:ext cx="296661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Прозорість ланцюга, право аудиту, сповіщення про інциденти, умови виходу, критичні функції DORA.</a:t>
            </a:r>
            <a:endParaRPr lang="en-US" sz="1200"/>
          </a:p>
        </p:txBody>
      </p:sp>
      <p:sp>
        <p:nvSpPr>
          <p:cNvPr id="17" name="Shape 13"/>
          <p:cNvSpPr/>
          <p:nvPr/>
        </p:nvSpPr>
        <p:spPr>
          <a:xfrm>
            <a:off x="8127797" y="2194560"/>
            <a:ext cx="351525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B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27797" y="2194560"/>
            <a:ext cx="64008" cy="274320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19" name="Shape 15"/>
          <p:cNvSpPr/>
          <p:nvPr/>
        </p:nvSpPr>
        <p:spPr>
          <a:xfrm>
            <a:off x="8365541" y="2414016"/>
            <a:ext cx="548640" cy="54864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8187" y="2556662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60485" y="2414016"/>
            <a:ext cx="2344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Спільна таксономія інцидентів ШІ</a:t>
            </a:r>
            <a:endParaRPr lang="en-US" sz="1500"/>
          </a:p>
        </p:txBody>
      </p:sp>
      <p:sp>
        <p:nvSpPr>
          <p:cNvPr id="22" name="Text 17"/>
          <p:cNvSpPr/>
          <p:nvPr/>
        </p:nvSpPr>
        <p:spPr>
          <a:xfrm>
            <a:off x="8402117" y="3108960"/>
            <a:ext cx="296661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Єдина мова подій для обміну сигналами між банками й регулятором.</a:t>
            </a:r>
            <a:endParaRPr lang="en-US" sz="1200"/>
          </a:p>
        </p:txBody>
      </p:sp>
      <p:sp>
        <p:nvSpPr>
          <p:cNvPr id="23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 «ОТП БАНК»  ·  Конфіденційно — деталі узагальнено для публічного виступу</a:t>
            </a:r>
            <a:endParaRPr lang="en-US" sz="850"/>
          </a:p>
        </p:txBody>
      </p:sp>
      <p:sp>
        <p:nvSpPr>
          <p:cNvPr id="24" name="Text 19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4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B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Операційна стійкість ШІ — це дисципліна, а не набір інструментів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>
                <a:solidFill>
                  <a:srgbClr val="DD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Єдиний життєвий цикл · обовʼязкова класифікація ризику · контроль постачальників · exit-стратегія · безперервне тестування стійкості — вбудовані в управління ІКТ-ризиками.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749808" y="4754880"/>
            <a:ext cx="3840480" cy="0"/>
          </a:xfrm>
          <a:prstGeom prst="line">
            <a:avLst/>
          </a:prstGeom>
          <a:noFill/>
          <a:ln w="25400">
            <a:solidFill>
              <a:srgbClr val="1F6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983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Дякую. Готові долучитися до спільної роботи сектору.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73152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[CISO — </a:t>
            </a:r>
            <a:r>
              <a:rPr lang="en-US" sz="1200" dirty="0" err="1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Янішевський</a:t>
            </a:r>
            <a:r>
              <a:rPr lang="en-US" sz="1200" dirty="0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 dirty="0" err="1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Дмитро</a:t>
            </a:r>
            <a:r>
              <a:rPr lang="en-US" sz="1200" dirty="0">
                <a:solidFill>
                  <a:srgbClr val="AFCBB9"/>
                </a:solidFill>
                <a:latin typeface="Calibri"/>
                <a:ea typeface="Calibri"/>
                <a:cs typeface="Calibri"/>
              </a:rPr>
              <a:t>] · АТ «ОТП БАНК»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Широкий екран</PresentationFormat>
  <Slides>12</Slides>
  <Notes>12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3" baseType="lpstr"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Операційна стійкість ШІ — практичний кейс</dc:title>
  <dc:subject>PptxGenJS Presentation</dc:subject>
  <dc:creator>OTP Bank Ukraine — Information Security</dc:creator>
  <cp:revision>5</cp:revision>
  <dcterms:created xsi:type="dcterms:W3CDTF">2026-05-29T11:37:55Z</dcterms:created>
  <dcterms:modified xsi:type="dcterms:W3CDTF">2026-05-31T11:10:20Z</dcterms:modified>
</cp:coreProperties>
</file>